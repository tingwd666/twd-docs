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3.svg" ContentType="image/svg+xml"/>
  <Override PartName="/ppt/media/image9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介绍TWD项目的专属APP方案。我们的目标是构建全球首个合规透明的Web3生态价值平台。这款APP不仅是一个数字资产管理工具，更是一个集透明溯源、社区共治、AI赋能于一体的综合性生态系统，旨在重塑Web3的信任基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本次方案将分为五个部分。首先，我们将阐述APP的定位与愿景；其次，详细介绍五大核心功能模块；接着，展示我们的UI设计规范；然后，解析关键的用户体验流程；最后，总结APP的核心价值与竞争优势。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首先是我们的定位与愿景。我们旨在重塑Web3的信任基石，打造一个去中心化、合规透明且由智能驱动的价值互联网基础设施。TWD APP将作为连接传统金融与加密世界的桥梁，提供前所未有的安全保障和透明度。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我们的目标用户非常广泛，从对合规性要求极高的机构投资者，到需要专业工具的交易员，再到追求便捷体验的Web3原生用户，以及希望安全入门的加密新用户。TWD APP旨在满足所有这些用户的核心需求。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接下来是我们的核心功能模块。首先是“资产概览”，它能集成用户在所有链上的资产，提供实时快照、收益分析、风险预警和投资组合报告，让用户对自己的财富状况一目了然。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第二个核心功能是“透明溯源”，这是我们的核心差异化功能。它能帮助用户审查项目背景、追踪资金流向、进行合约审计，并通过“时间胶囊”和“信任评分”机制，从根本上解决Web3世界的信任难题。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第三个模块是“社区共治”。我们将DAO治理落地为流畅的用户体验，通过提案投票、声誉积分、治理仪表盘和链上执行等功能，让每一位用户都能参与到平台的决策中来，实现真正的去中心化自治。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第四个模块是“AI工具”，我们打造了名为“TWD Oracle”的智能助手。它能提供智能投研报告、市场情绪分析、个性化策略推荐，甚至能通过自然语言执行智能合约交互，并在操作前进行安全审计，极大地降低了Web3的使用门槛。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核心功能是“生态应用”。我们构建了一个开放的应用市场，聚合优质的Web3服务。用户可以在APP内无缝访问各类应用，并享受跨链资产交换的便利。同时，我们还设立了开发者激励计划，共同繁荣生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接下来是我们的UI设计规范。我们采用“黑深蓝未来科技风”，旨在传达专业、安全、前沿的品牌调性。设计将融合数据可视化、玻璃拟态、微交互和动态光影等元素，创造沉浸式的未来体验。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我们的色彩方案以科技蓝为主色，电光紫为辅助色，深空黑为背景主导色，确保视觉的专业性和未来感。字体系统选用现代、清晰的Inter字体，并通过不同字重和大小来构建清晰的信息层级。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现在我们来看UX核心流程。首先是注册与合规认证。我们设计了流畅的引导流程，从注册、钱包创建，到关键的KYC身份认证和风险测评，确保用户快速建立合规身份，为安全使用APP打下基础。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第二个关键流程是发起一笔安全的交易。我们通过AI安全扫描、详细的交易确认和便捷的授权签名，确保每一笔交易都安全、透明。交易发出后，用户还可以实时追踪确认状态，全程无忧。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最后，我们来总结APP的核心价值。我们的价值主张可以概括为四个词：合规、透明、智能、共治。我们主动拥抱监管，利用技术实现极致透明，通过AI赋能提升效率，并通过社区共治确保平台属于每一位用户。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与传统钱包、中心化交易所和数据分析平台相比，TWD APP的核心优势在于其综合性和独特性。我们在合规性、透明度、AI赋能和社区治理方面建立了难以被单一竞品复制的护城河，旨在成为满足用户全方位需求的Web3“超级应用”。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我的介绍到此结束，感谢大家的聆听。TWD APP将与各位共识者一起，翼展苍穹，共创价值无界的Web3未来。谢谢！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7.sv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svg"/><Relationship Id="rId8" Type="http://schemas.openxmlformats.org/officeDocument/2006/relationships/image" Target="../media/image24.png"/><Relationship Id="rId7" Type="http://schemas.openxmlformats.org/officeDocument/2006/relationships/image" Target="../media/image23.svg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7.svg"/><Relationship Id="rId10" Type="http://schemas.openxmlformats.org/officeDocument/2006/relationships/image" Target="../media/image26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svg"/><Relationship Id="rId8" Type="http://schemas.openxmlformats.org/officeDocument/2006/relationships/image" Target="../media/image32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6.jpeg"/><Relationship Id="rId11" Type="http://schemas.openxmlformats.org/officeDocument/2006/relationships/image" Target="../media/image35.svg"/><Relationship Id="rId10" Type="http://schemas.openxmlformats.org/officeDocument/2006/relationships/image" Target="../media/image34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13.svg"/><Relationship Id="rId7" Type="http://schemas.openxmlformats.org/officeDocument/2006/relationships/image" Target="../media/image12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9.svg"/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1.svg"/><Relationship Id="rId11" Type="http://schemas.openxmlformats.org/officeDocument/2006/relationships/image" Target="../media/image40.png"/><Relationship Id="rId10" Type="http://schemas.openxmlformats.org/officeDocument/2006/relationships/image" Target="../media/image8.sv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10.png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48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svg"/><Relationship Id="rId8" Type="http://schemas.openxmlformats.org/officeDocument/2006/relationships/image" Target="../media/image55.png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3.jpeg"/><Relationship Id="rId7" Type="http://schemas.openxmlformats.org/officeDocument/2006/relationships/image" Target="../media/image62.svg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9.svg"/><Relationship Id="rId6" Type="http://schemas.openxmlformats.org/officeDocument/2006/relationships/image" Target="../media/image68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7.svg"/><Relationship Id="rId8" Type="http://schemas.openxmlformats.org/officeDocument/2006/relationships/image" Target="../media/image76.png"/><Relationship Id="rId7" Type="http://schemas.openxmlformats.org/officeDocument/2006/relationships/image" Target="../media/image75.svg"/><Relationship Id="rId6" Type="http://schemas.openxmlformats.org/officeDocument/2006/relationships/image" Target="../media/image74.png"/><Relationship Id="rId5" Type="http://schemas.openxmlformats.org/officeDocument/2006/relationships/image" Target="../media/image73.svg"/><Relationship Id="rId4" Type="http://schemas.openxmlformats.org/officeDocument/2006/relationships/image" Target="../media/image72.png"/><Relationship Id="rId3" Type="http://schemas.openxmlformats.org/officeDocument/2006/relationships/image" Target="../media/image71.svg"/><Relationship Id="rId2" Type="http://schemas.openxmlformats.org/officeDocument/2006/relationships/image" Target="../media/image70.png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82.jpeg"/><Relationship Id="rId13" Type="http://schemas.openxmlformats.org/officeDocument/2006/relationships/image" Target="../media/image81.svg"/><Relationship Id="rId12" Type="http://schemas.openxmlformats.org/officeDocument/2006/relationships/image" Target="../media/image80.png"/><Relationship Id="rId11" Type="http://schemas.openxmlformats.org/officeDocument/2006/relationships/image" Target="../media/image79.svg"/><Relationship Id="rId10" Type="http://schemas.openxmlformats.org/officeDocument/2006/relationships/image" Target="../media/image78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svg"/><Relationship Id="rId8" Type="http://schemas.openxmlformats.org/officeDocument/2006/relationships/image" Target="../media/image85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84.svg"/><Relationship Id="rId4" Type="http://schemas.openxmlformats.org/officeDocument/2006/relationships/image" Target="../media/image83.png"/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6" Type="http://schemas.openxmlformats.org/officeDocument/2006/relationships/notesSlide" Target="../notesSlides/notesSlide13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91.jpeg"/><Relationship Id="rId13" Type="http://schemas.openxmlformats.org/officeDocument/2006/relationships/image" Target="../media/image90.svg"/><Relationship Id="rId12" Type="http://schemas.openxmlformats.org/officeDocument/2006/relationships/image" Target="../media/image89.png"/><Relationship Id="rId11" Type="http://schemas.openxmlformats.org/officeDocument/2006/relationships/image" Target="../media/image88.svg"/><Relationship Id="rId10" Type="http://schemas.openxmlformats.org/officeDocument/2006/relationships/image" Target="../media/image87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svg"/><Relationship Id="rId8" Type="http://schemas.openxmlformats.org/officeDocument/2006/relationships/image" Target="../media/image40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93.svg"/><Relationship Id="rId4" Type="http://schemas.openxmlformats.org/officeDocument/2006/relationships/image" Target="../media/image92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95.svg"/><Relationship Id="rId2" Type="http://schemas.openxmlformats.org/officeDocument/2006/relationships/image" Target="../media/image94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TWD项目专属APP方案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3429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 spc="200">
                <a:solidFill>
                  <a:srgbClr val="ECF2FF">
                    <a:alpha val="9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构建全球首个合规透明的 Web3 生态价值平台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52FF">
                <a:alpha val="3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52FF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685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1968500"/>
            <a:ext cx="88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52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95500" y="2095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APP定位与愿景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95500" y="2667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重塑Web3信任基石，确立行业领先的应用方向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52FF">
                <a:alpha val="3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52FF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9685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762500" y="1968500"/>
            <a:ext cx="88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52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78500" y="2095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核心功能模块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78500" y="2667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打造一站式价值交互平台，聚合多元核心服务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52FF">
                <a:alpha val="3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52FF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9685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445500" y="1968500"/>
            <a:ext cx="88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52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461500" y="2095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UI设计规范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461500" y="2667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定义未来科技美学，构建统一且极具辨识度的视觉语言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937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52FF">
                <a:alpha val="3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52FF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2545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79500" y="42545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0052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286000" y="4381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UX 核心交互流程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286000" y="50165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优化关键路径，提供流畅、直观且安全的全链路用户体验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3937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52FF">
                <a:alpha val="3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52FF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42545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540500" y="42545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0052FF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747000" y="4381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核心价值与竞争优势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747000" y="50165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整合技术壁垒与生态资源，构建难以复制的商业护城河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 APP定位与愿景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重塑 Web3 信任基石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0052FF">
              <a:alpha val="16000"/>
            </a:srgbClr>
          </a:solidFill>
          <a:ln w="12700" cap="flat" cmpd="sng">
            <a:solidFill>
              <a:srgbClr val="0052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349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去中心化架构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打破单点垄断风险，构建分布式、不可篡改的信任网络底层。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0052FF">
              <a:alpha val="16000"/>
            </a:srgbClr>
          </a:solidFill>
          <a:ln w="12700" cap="flat" cmpd="sng">
            <a:solidFill>
              <a:srgbClr val="0052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86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461000" y="2349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合规透明生态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04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链上数据全流程可追溯，完全符合全球金融监管合规标准。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032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0052FF">
              <a:alpha val="16000"/>
            </a:srgbClr>
          </a:solidFill>
          <a:ln w="12700" cap="flat" cmpd="sng">
            <a:solidFill>
              <a:srgbClr val="0052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286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144000" y="2349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智能合约驱动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04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协同智能合约自动化执行，大幅提升金融协作效率与准确性。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10668000" cy="1778000"/>
          </a:xfrm>
          <a:prstGeom prst="roundRect">
            <a:avLst>
              <a:gd name="adj" fmla="val 11428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4381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▎全球价值互联网基础设施愿景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82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Web3 的未来不应建立在匿名与无序之上，TWD APP 将作为连接传统金融与新兴加密生态的</a:t>
            </a:r>
            <a:r>
              <a:rPr lang="en-US" sz="12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核心桥梁</a:t>
            </a:r>
            <a:r>
              <a:rPr lang="en-US" sz="12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，让用户在享受区块链技术红利的同时，获得媲美传统金融的</a:t>
            </a:r>
            <a:r>
              <a:rPr lang="en-US" sz="12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顶级安全保障与透明度</a:t>
            </a:r>
            <a:r>
              <a:rPr lang="en-US" sz="12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，共建可信、公平、高效的下一代价值网络。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目标用户画像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810000" cy="4826000"/>
          </a:xfrm>
          <a:prstGeom prst="roundRect">
            <a:avLst>
              <a:gd name="adj" fmla="val 5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52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16699" r="16699"/>
          <a:stretch>
            <a:fillRect/>
          </a:stretch>
        </p:blipFill>
        <p:spPr>
          <a:xfrm>
            <a:off x="1016000" y="1778000"/>
            <a:ext cx="3302000" cy="3302000"/>
          </a:xfrm>
          <a:prstGeom prst="roundRect">
            <a:avLst>
              <a:gd name="adj" fmla="val 461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1016000" y="5270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spc="200">
                <a:solidFill>
                  <a:srgbClr val="0052FF"/>
                </a:solidFill>
                <a:latin typeface="Inter"/>
                <a:ea typeface="Inter"/>
                <a:cs typeface="Inter"/>
                <a:sym typeface="Inter"/>
              </a:rPr>
              <a:t>多元化用户生态体系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953000" y="1524000"/>
            <a:ext cx="3175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207000" y="1778000"/>
            <a:ext cx="609600" cy="609600"/>
          </a:xfrm>
          <a:prstGeom prst="ellipse">
            <a:avLst/>
          </a:prstGeom>
          <a:solidFill>
            <a:srgbClr val="0052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0" y="190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969000" y="1778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机构投资者/FO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207000" y="2540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寻求合规、透明的数字资产配置渠道，对资产安全托管和全球监管合规有极高标准要求。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82000" y="1524000"/>
            <a:ext cx="3175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636000" y="1778000"/>
            <a:ext cx="609600" cy="609600"/>
          </a:xfrm>
          <a:prstGeom prst="ellipse">
            <a:avLst/>
          </a:prstGeom>
          <a:solidFill>
            <a:srgbClr val="0052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3000" y="1905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398000" y="1778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专业交易员/研究员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636000" y="2540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依赖强大的多维度数据分析工具、毫秒级实时市场监控和AI智能投研辅助，制定精准策略。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953000" y="4064000"/>
            <a:ext cx="3175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207000" y="4318000"/>
            <a:ext cx="609600" cy="609600"/>
          </a:xfrm>
          <a:prstGeom prst="ellipse">
            <a:avLst/>
          </a:prstGeom>
          <a:solidFill>
            <a:srgbClr val="0052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0" y="44450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969000" y="4318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Web3 原生用户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207000" y="5080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渴望一个功能高度集成、交互体验流畅、且具备银行级安全性的一站式 Web3 聚合平台。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82000" y="4064000"/>
            <a:ext cx="3175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636000" y="4318000"/>
            <a:ext cx="609600" cy="609600"/>
          </a:xfrm>
          <a:prstGeom prst="ellipse">
            <a:avLst/>
          </a:prstGeom>
          <a:solidFill>
            <a:srgbClr val="0052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63000" y="44450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398000" y="4318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加密领域新用户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36000" y="50800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需要一个低门槛、易于上手且安全可靠的“入口”，帮助其快速理解复杂概念并平滑进入Web3世界。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 核心功能模块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826000" cy="4699000"/>
          </a:xfrm>
          <a:prstGeom prst="roundRect">
            <a:avLst>
              <a:gd name="adj" fmla="val 3243"/>
            </a:avLst>
          </a:prstGeom>
          <a:solidFill>
            <a:srgbClr val="0A192F">
              <a:alpha val="95000"/>
            </a:srgbClr>
          </a:solidFill>
          <a:ln w="12700" cap="flat" cmpd="sng">
            <a:solidFill>
              <a:srgbClr val="00B8FF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842000" y="1524000"/>
            <a:ext cx="5588000" cy="889000"/>
          </a:xfrm>
          <a:prstGeom prst="roundRect">
            <a:avLst>
              <a:gd name="adj" fmla="val 11428"/>
            </a:avLst>
          </a:prstGeom>
          <a:solidFill>
            <a:srgbClr val="141E37">
              <a:alpha val="8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842000" y="1524000"/>
            <a:ext cx="50800" cy="889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096000" y="1689100"/>
            <a:ext cx="558800" cy="558800"/>
          </a:xfrm>
          <a:prstGeom prst="ellipse">
            <a:avLst/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3000" y="18161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858000" y="1651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多链资产管理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支持BSC/ETH等主流公链，自动归集TWD及多链代币、DeFi仓位，一站式管理。</a:t>
            </a:r>
            <a:endParaRPr lang="en-US" sz="11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842000" y="2540000"/>
            <a:ext cx="5588000" cy="889000"/>
          </a:xfrm>
          <a:prstGeom prst="roundRect">
            <a:avLst>
              <a:gd name="adj" fmla="val 11428"/>
            </a:avLst>
          </a:prstGeom>
          <a:solidFill>
            <a:srgbClr val="141E37">
              <a:alpha val="8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842000" y="2540000"/>
            <a:ext cx="50800" cy="889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096000" y="2705100"/>
            <a:ext cx="558800" cy="558800"/>
          </a:xfrm>
          <a:prstGeom prst="ellipse">
            <a:avLst/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3000" y="28321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58000" y="2667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实时资产快照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法币实时估算总资产价值，按持仓类型智能分类，TWD持仓与收益单独高亮展示。</a:t>
            </a:r>
            <a:endParaRPr lang="en-US" sz="11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842000" y="3556000"/>
            <a:ext cx="5588000" cy="889000"/>
          </a:xfrm>
          <a:prstGeom prst="roundRect">
            <a:avLst>
              <a:gd name="adj" fmla="val 11428"/>
            </a:avLst>
          </a:prstGeom>
          <a:solidFill>
            <a:srgbClr val="141E37">
              <a:alpha val="8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842000" y="3556000"/>
            <a:ext cx="50800" cy="889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096000" y="3721100"/>
            <a:ext cx="558800" cy="558800"/>
          </a:xfrm>
          <a:prstGeom prst="ellipse">
            <a:avLst/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3000" y="38481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3683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收益分析引擎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自动追踪TWD质押、分红、交易全周期收益，精准计算并呈现年化收益率(APY)。</a:t>
            </a:r>
            <a:endParaRPr lang="en-US" sz="11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842000" y="4572000"/>
            <a:ext cx="5588000" cy="889000"/>
          </a:xfrm>
          <a:prstGeom prst="roundRect">
            <a:avLst>
              <a:gd name="adj" fmla="val 11428"/>
            </a:avLst>
          </a:prstGeom>
          <a:solidFill>
            <a:srgbClr val="141E37">
              <a:alpha val="8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842000" y="4572000"/>
            <a:ext cx="50800" cy="889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096000" y="4737100"/>
            <a:ext cx="558800" cy="558800"/>
          </a:xfrm>
          <a:prstGeom prst="ellipse">
            <a:avLst/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3000" y="48641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858000" y="4699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智能合规风控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内嵌Smart Compliance智能合规系统，实时扫描异常交易，拦截违规风险，全流程可溯源。</a:t>
            </a:r>
            <a:endParaRPr lang="en-US" sz="11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5842000" y="5588000"/>
            <a:ext cx="5588000" cy="889000"/>
          </a:xfrm>
          <a:prstGeom prst="roundRect">
            <a:avLst>
              <a:gd name="adj" fmla="val 11428"/>
            </a:avLst>
          </a:prstGeom>
          <a:solidFill>
            <a:srgbClr val="141E37">
              <a:alpha val="8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5842000" y="5588000"/>
            <a:ext cx="50800" cy="889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096000" y="5753100"/>
            <a:ext cx="558800" cy="558800"/>
          </a:xfrm>
          <a:prstGeom prst="ellipse">
            <a:avLst/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23000" y="58801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858000" y="5715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持仓报告生成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定期生成多维度TWD持仓与资产配置报告，为用户的资产优化提供全链路数据支撑。</a:t>
            </a:r>
            <a:endParaRPr lang="en-US" sz="1100" b="0" i="0" u="none" strike="noStrike">
              <a:solidFill>
                <a:srgbClr val="D1D5DB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952500" y="1714500"/>
            <a:ext cx="4445000" cy="3556000"/>
          </a:xfrm>
          <a:prstGeom prst="roundRect">
            <a:avLst>
              <a:gd name="adj" fmla="val 0"/>
            </a:avLst>
          </a:prstGeom>
          <a:solidFill>
            <a:srgbClr val="141E37">
              <a:alpha val="50000"/>
            </a:srgbClr>
          </a:solidFill>
          <a:ln w="12700" cap="flat" cmpd="sng">
            <a:solidFill>
              <a:srgbClr val="00B8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B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TWD OmniVision Dashboard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全链财富管家</a:t>
            </a:r>
            <a:endParaRPr lang="en-US" sz="1200" b="0" i="0" u="none" strike="noStrike">
              <a:solidFill>
                <a:srgbClr val="D1D5D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</a:p>
          <a:p>
            <a:pPr indent="0" algn="ctr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$6</a:t>
            </a:r>
            <a:r>
              <a:rPr lang="en-US" sz="20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66.</a:t>
            </a: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666,666.66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总资产概览</a:t>
            </a:r>
            <a:endParaRPr lang="en-US" sz="1200" b="0" i="0" u="none" strike="noStrike">
              <a:solidFill>
                <a:srgbClr val="D1D5D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TWD持仓: 6666 | 累计销毁: 666M</a:t>
            </a:r>
            <a:endParaRPr lang="en-US" sz="1100" b="0" i="0" u="none" strike="noStrike">
              <a:solidFill>
                <a:srgbClr val="D1D5D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已到账分红: $6666 | 当日盈亏: +666%</a:t>
            </a:r>
            <a:endParaRPr lang="en-US" sz="1100" b="0" i="0" u="none" strike="noStrike">
              <a:solidFill>
                <a:srgbClr val="D1D5D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透明溯源 (Transparency Engine)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588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52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14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651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项目背景审查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006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一键获取项目团队背景、投资方等核心信息，并基于数据模型进行自动化风险评级。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540000"/>
            <a:ext cx="5588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52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730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2667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资金流向追踪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78000" y="3022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可视化全景展示项目资金的募集总量、分配比例和实时使用情况，拒绝资金黑盒。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556000"/>
            <a:ext cx="5588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52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746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3683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智能合约审计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4038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内置轻量级合约安全扫描工具，自动检测漏洞，并一键链接至第三方专业审计机构报告。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572000"/>
            <a:ext cx="5588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52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762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78000" y="4699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“时间胶囊”功能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778000" y="50546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利用区块链不可篡改特性，定期快照并记录项目关键信息的历史版本，防止后期随意修改。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588000"/>
            <a:ext cx="5588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52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7785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778000" y="5715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社区信任评分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778000" y="60706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结合链上客观数据和社区主观反馈，为每个项目生成动态更新的“信任分数”。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04000" y="1524000"/>
            <a:ext cx="4826000" cy="4953000"/>
          </a:xfrm>
          <a:prstGeom prst="roundRect">
            <a:avLst>
              <a:gd name="adj" fmla="val 3157"/>
            </a:avLst>
          </a:prstGeom>
          <a:solidFill>
            <a:srgbClr val="001432">
              <a:alpha val="70000"/>
            </a:srgbClr>
          </a:solidFill>
          <a:ln w="25400" cap="flat" cmpd="sng">
            <a:solidFill>
              <a:srgbClr val="0052FF">
                <a:alpha val="7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52F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rcRect t="18024" b="18024"/>
          <a:stretch>
            <a:fillRect/>
          </a:stretch>
        </p:blipFill>
        <p:spPr>
          <a:xfrm>
            <a:off x="6794500" y="1714500"/>
            <a:ext cx="4445000" cy="4572000"/>
          </a:xfrm>
          <a:prstGeom prst="roundRect">
            <a:avLst>
              <a:gd name="adj" fmla="val 2857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社区共治 (DAO Governance Hub)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将社区治理从概念落地为流畅、高效的用户体验，构建真正的去中心化自治生态。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4318000" cy="4191000"/>
          </a:xfrm>
          <a:prstGeom prst="roundRect">
            <a:avLst>
              <a:gd name="adj" fmla="val 3636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52FF">
                <a:alpha val="60000"/>
              </a:srgbClr>
            </a:solidFill>
            <a:prstDash val="solid"/>
            <a:round/>
          </a:ln>
          <a:effectLst>
            <a:outerShdw blurRad="190500" dir="2700000" algn="tl" rotWithShape="0">
              <a:srgbClr val="0052F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3333" b="3333"/>
          <a:stretch>
            <a:fillRect/>
          </a:stretch>
        </p:blipFill>
        <p:spPr>
          <a:xfrm>
            <a:off x="1016000" y="2159000"/>
            <a:ext cx="3810000" cy="2667000"/>
          </a:xfrm>
          <a:prstGeom prst="roundRect">
            <a:avLst>
              <a:gd name="adj" fmla="val 380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016000" y="5016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DAO 社区治理投票交互界面预览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34000" y="19050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334000" y="1905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0" y="2095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223000" y="20574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提案与投票系统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24384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BD5E1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持有TWD代币即可发起提案，全员参与社区核心决策投票。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82000" y="19050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382000" y="1905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6000" y="2095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271000" y="20574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声誉积分系统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271000" y="24384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BD5E1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参与社区建设积累积分，积分越高，获得的投票权重越大。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334000" y="34290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334000" y="3429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88000" y="36195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223000" y="35814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实时治理仪表盘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39624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BD5E1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可视化展示提案进度、投票数据及社区活跃度，治理状态一目了然。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82000" y="34290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382000" y="3429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6000" y="36195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271000" y="35814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智能合约执行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271000" y="3962400"/>
            <a:ext cx="190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BD5E1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提案通过后自动触发链上合约，确保决策执行的透明与不可篡改。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334000" y="4953000"/>
            <a:ext cx="5969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5334000" y="4953000"/>
            <a:ext cx="50800" cy="1143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88000" y="52070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350000" y="51435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灵活的委托投票机制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350000" y="5524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BD5E1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用户可将投票权委托给信任的社区代表，即使离线也能参与治理，提升决策效率。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AI工具 (AI-Powered Assistant "TWD Oracle")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深度融合AI技术，打造个人专属的Web3智能助手，重塑交互体验。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52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1336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20320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智能投研报告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14500" y="24384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8C8C8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自动聚合链上数据，生成简洁的投资分析摘要与关键风险提示。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115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52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3401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14500" y="32385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市场情绪分析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14500" y="36449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8C8C8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实时监测特定代币或整体市场的情绪指数，敏锐捕捉热度趋势变化。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52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5466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14500" y="44450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个性化策略推荐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714500" y="48514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C8C8C8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基于用户的风险偏好与资产持仓状况，智能推荐定制化投资组合。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524500"/>
            <a:ext cx="5207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52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715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714500" y="56134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智能合约交互 &amp; 安全审计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714500" y="59690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C8C8C8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自然语言驱动执行合约，操作前自动扫描风险并提供安全建议。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1905000"/>
            <a:ext cx="5207000" cy="3937000"/>
          </a:xfrm>
          <a:prstGeom prst="roundRect">
            <a:avLst>
              <a:gd name="adj" fmla="val 3870"/>
            </a:avLst>
          </a:prstGeom>
          <a:solidFill>
            <a:srgbClr val="0052FF">
              <a:alpha val="10000"/>
            </a:srgbClr>
          </a:solidFill>
          <a:ln w="25400" cap="flat" cmpd="sng">
            <a:solidFill>
              <a:srgbClr val="0052FF">
                <a:alpha val="7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52FF">
                <a:alpha val="3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rcRect l="16379" r="16379"/>
          <a:stretch>
            <a:fillRect/>
          </a:stretch>
        </p:blipFill>
        <p:spPr>
          <a:xfrm>
            <a:off x="6350000" y="2032000"/>
            <a:ext cx="4953000" cy="3683000"/>
          </a:xfrm>
          <a:prstGeom prst="roundRect">
            <a:avLst>
              <a:gd name="adj" fmla="val 275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6223000" y="5969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spc="100">
                <a:solidFill>
                  <a:srgbClr val="0052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TWD ORACLE INTERACTION INTERFACE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生态应用 (Ecosystem Portal)</a:t>
            </a:r>
            <a:endParaRPr lang="en-US" sz="1100"/>
          </a:p>
        </p:txBody>
      </p:sp>
      <p:sp>
        <p:nvSpPr>
          <p:cNvPr id="24" name="AutoShape 4"/>
          <p:cNvSpPr/>
          <p:nvPr/>
        </p:nvSpPr>
        <p:spPr>
          <a:xfrm>
            <a:off x="762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52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5"/>
          <p:cNvSpPr/>
          <p:nvPr/>
        </p:nvSpPr>
        <p:spPr>
          <a:xfrm>
            <a:off x="762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6"/>
          <p:cNvSpPr/>
          <p:nvPr/>
        </p:nvSpPr>
        <p:spPr>
          <a:xfrm>
            <a:off x="1143000" y="2222500"/>
            <a:ext cx="1016000" cy="1016000"/>
          </a:xfrm>
          <a:prstGeom prst="ellipse">
            <a:avLst/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000" y="2476500"/>
            <a:ext cx="508000" cy="508000"/>
          </a:xfrm>
          <a:prstGeom prst="rect">
            <a:avLst/>
          </a:prstGeom>
        </p:spPr>
      </p:pic>
      <p:sp>
        <p:nvSpPr>
          <p:cNvPr id="28" name="AutoShape 8"/>
          <p:cNvSpPr/>
          <p:nvPr/>
        </p:nvSpPr>
        <p:spPr>
          <a:xfrm>
            <a:off x="2413000" y="2032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TWD生态入口聚合</a:t>
            </a:r>
            <a:endParaRPr lang="en-US" sz="1100"/>
          </a:p>
        </p:txBody>
      </p:sp>
      <p:sp>
        <p:nvSpPr>
          <p:cNvPr id="29" name="AutoShape 9"/>
          <p:cNvSpPr/>
          <p:nvPr/>
        </p:nvSpPr>
        <p:spPr>
          <a:xfrm>
            <a:off x="2413000" y="2603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类似手机应用商店，集中展示经过严格审核的TWD生态全场景服务，包含质押分红、IP孵化、社区治理、合规中心等核心功能。</a:t>
            </a:r>
            <a:endParaRPr lang="en-US" sz="1100"/>
          </a:p>
        </p:txBody>
      </p:sp>
      <p:sp>
        <p:nvSpPr>
          <p:cNvPr id="30" name="AutoShape 10"/>
          <p:cNvSpPr/>
          <p:nvPr/>
        </p:nvSpPr>
        <p:spPr>
          <a:xfrm>
            <a:off x="6223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52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11"/>
          <p:cNvSpPr/>
          <p:nvPr/>
        </p:nvSpPr>
        <p:spPr>
          <a:xfrm>
            <a:off x="6223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12"/>
          <p:cNvSpPr/>
          <p:nvPr/>
        </p:nvSpPr>
        <p:spPr>
          <a:xfrm>
            <a:off x="6604000" y="2222500"/>
            <a:ext cx="1016000" cy="1016000"/>
          </a:xfrm>
          <a:prstGeom prst="ellipse">
            <a:avLst/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0" y="2476500"/>
            <a:ext cx="508000" cy="508000"/>
          </a:xfrm>
          <a:prstGeom prst="rect">
            <a:avLst/>
          </a:prstGeom>
        </p:spPr>
      </p:pic>
      <p:sp>
        <p:nvSpPr>
          <p:cNvPr id="34" name="AutoShape 14"/>
          <p:cNvSpPr/>
          <p:nvPr/>
        </p:nvSpPr>
        <p:spPr>
          <a:xfrm>
            <a:off x="7874000" y="2032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无缝单点登录</a:t>
            </a:r>
            <a:endParaRPr lang="en-US" sz="1100"/>
          </a:p>
        </p:txBody>
      </p:sp>
      <p:sp>
        <p:nvSpPr>
          <p:cNvPr id="35" name="AutoShape 15"/>
          <p:cNvSpPr/>
          <p:nvPr/>
        </p:nvSpPr>
        <p:spPr>
          <a:xfrm>
            <a:off x="7874000" y="2603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用户无需反复注册，在APP内直接访问所有TWD生态应用，真正实现“单点登录，全生态通行”的丝滑体验。</a:t>
            </a:r>
            <a:endParaRPr lang="en-US" sz="1100"/>
          </a:p>
        </p:txBody>
      </p:sp>
      <p:sp>
        <p:nvSpPr>
          <p:cNvPr id="36" name="AutoShape 16"/>
          <p:cNvSpPr/>
          <p:nvPr/>
        </p:nvSpPr>
        <p:spPr>
          <a:xfrm>
            <a:off x="762000" y="406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52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17"/>
          <p:cNvSpPr/>
          <p:nvPr/>
        </p:nvSpPr>
        <p:spPr>
          <a:xfrm>
            <a:off x="762000" y="4064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18"/>
          <p:cNvSpPr/>
          <p:nvPr/>
        </p:nvSpPr>
        <p:spPr>
          <a:xfrm>
            <a:off x="1143000" y="4635500"/>
            <a:ext cx="1016000" cy="1016000"/>
          </a:xfrm>
          <a:prstGeom prst="ellipse">
            <a:avLst/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7000" y="4889500"/>
            <a:ext cx="508000" cy="508000"/>
          </a:xfrm>
          <a:prstGeom prst="rect">
            <a:avLst/>
          </a:prstGeom>
        </p:spPr>
      </p:pic>
      <p:sp>
        <p:nvSpPr>
          <p:cNvPr id="40" name="AutoShape 20"/>
          <p:cNvSpPr/>
          <p:nvPr/>
        </p:nvSpPr>
        <p:spPr>
          <a:xfrm>
            <a:off x="2413000" y="444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生态孵化激励计划</a:t>
            </a:r>
            <a:endParaRPr lang="en-US" sz="1100"/>
          </a:p>
        </p:txBody>
      </p:sp>
      <p:sp>
        <p:nvSpPr>
          <p:cNvPr id="41" name="AutoShape 21"/>
          <p:cNvSpPr/>
          <p:nvPr/>
        </p:nvSpPr>
        <p:spPr>
          <a:xfrm>
            <a:off x="2413000" y="5016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设立百万级TWD专项生态基金，鼓励全球开发者基于平台底层能力开发创新应用，共建TWD全场景Web3生态。</a:t>
            </a:r>
            <a:endParaRPr lang="en-US" sz="1100"/>
          </a:p>
        </p:txBody>
      </p:sp>
      <p:sp>
        <p:nvSpPr>
          <p:cNvPr id="42" name="AutoShape 22"/>
          <p:cNvSpPr/>
          <p:nvPr/>
        </p:nvSpPr>
        <p:spPr>
          <a:xfrm>
            <a:off x="6223000" y="406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0052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23"/>
          <p:cNvSpPr/>
          <p:nvPr/>
        </p:nvSpPr>
        <p:spPr>
          <a:xfrm>
            <a:off x="6223000" y="4064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24"/>
          <p:cNvSpPr/>
          <p:nvPr/>
        </p:nvSpPr>
        <p:spPr>
          <a:xfrm>
            <a:off x="6604000" y="4635500"/>
            <a:ext cx="1016000" cy="1016000"/>
          </a:xfrm>
          <a:prstGeom prst="ellipse">
            <a:avLst/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2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8000" y="4889500"/>
            <a:ext cx="508000" cy="508000"/>
          </a:xfrm>
          <a:prstGeom prst="rect">
            <a:avLst/>
          </a:prstGeom>
        </p:spPr>
      </p:pic>
      <p:sp>
        <p:nvSpPr>
          <p:cNvPr id="46" name="AutoShape 26"/>
          <p:cNvSpPr/>
          <p:nvPr/>
        </p:nvSpPr>
        <p:spPr>
          <a:xfrm>
            <a:off x="7874000" y="444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TWD跨链生态互通</a:t>
            </a:r>
            <a:endParaRPr lang="en-US" sz="1100"/>
          </a:p>
        </p:txBody>
      </p:sp>
      <p:sp>
        <p:nvSpPr>
          <p:cNvPr id="47" name="AutoShape 27"/>
          <p:cNvSpPr/>
          <p:nvPr/>
        </p:nvSpPr>
        <p:spPr>
          <a:xfrm>
            <a:off x="7874000" y="5016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内置高性能跨链桥与DEX聚合器，支持用户在不同公链之间无缝、低滑点兑换TWD与主流资产，打破生态数据孤岛。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 UI设计规范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953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52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714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核心品牌调性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159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融合深空静谧与数字科技的锐利感，旨在传达</a:t>
            </a:r>
            <a:r>
              <a:rPr lang="en-US" sz="12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专业、安全、前沿</a:t>
            </a: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的品牌形象，创造沉浸式的未来交互体验。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4953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52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29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3365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视觉感官体验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78000" y="3810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整体视觉风格呈现</a:t>
            </a:r>
            <a:r>
              <a:rPr lang="en-US" sz="12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深邃、冷静、精准</a:t>
            </a: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的特质，通过高对比度与层次光影，传递出充满科技力量感的视觉冲击。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4953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52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80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5016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关键设计语言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5461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核心元素：数据可视化、玻璃拟态(Glassmorphism)、微交互反馈、动态光影氛围。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rcRect l="13963" r="13963"/>
          <a:stretch>
            <a:fillRect/>
          </a:stretch>
        </p:blipFill>
        <p:spPr>
          <a:xfrm>
            <a:off x="5969000" y="1524000"/>
            <a:ext cx="5080000" cy="4699000"/>
          </a:xfrm>
          <a:prstGeom prst="roundRect">
            <a:avLst>
              <a:gd name="adj" fmla="val 4324"/>
            </a:avLst>
          </a:prstGeom>
          <a:noFill/>
          <a:ln w="25400" cap="flat" cmpd="sng">
            <a:solidFill>
              <a:srgbClr val="0052FF">
                <a:alpha val="7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E1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色彩方案与字体系统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141928">
              <a:alpha val="92000"/>
            </a:srgbClr>
          </a:solidFill>
          <a:ln w="12700" cap="flat" cmpd="sng">
            <a:solidFill>
              <a:srgbClr val="0052F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色彩方案 Color Scheme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23495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603500"/>
            <a:ext cx="762000" cy="762000"/>
          </a:xfrm>
          <a:prstGeom prst="ellipse">
            <a:avLst/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2032000" y="26035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科技蓝 (主色)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#0052FF</a:t>
            </a:r>
            <a:endParaRPr lang="en-US" sz="1100" b="0" i="0" u="none" strike="noStrike">
              <a:solidFill>
                <a:srgbClr val="A0AEC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核心按钮 / 高亮强调</a:t>
            </a:r>
            <a:endParaRPr lang="en-US" sz="1000" b="0" i="0" u="none" strike="noStrike">
              <a:solidFill>
                <a:srgbClr val="71809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92500" y="2413000"/>
            <a:ext cx="23495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19500" y="2603500"/>
            <a:ext cx="762000" cy="762000"/>
          </a:xfrm>
          <a:prstGeom prst="ellipse">
            <a:avLst/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08500" y="26035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电光紫 (辅助)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#8B5CF6</a:t>
            </a:r>
            <a:endParaRPr lang="en-US" sz="1100" b="0" i="0" u="none" strike="noStrike">
              <a:solidFill>
                <a:srgbClr val="A0AEC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次级操作 / 渐变效果</a:t>
            </a:r>
            <a:endParaRPr lang="en-US" sz="1000" b="0" i="0" u="none" strike="noStrike">
              <a:solidFill>
                <a:srgbClr val="71809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3937000"/>
            <a:ext cx="23495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43000" y="4127500"/>
            <a:ext cx="762000" cy="762000"/>
          </a:xfrm>
          <a:prstGeom prst="ellipse">
            <a:avLst/>
          </a:prstGeom>
          <a:solidFill>
            <a:srgbClr val="0A0E1A">
              <a:alpha val="100000"/>
            </a:srgbClr>
          </a:solidFill>
          <a:ln w="12700" cap="flat" cmpd="sng">
            <a:solidFill>
              <a:srgbClr val="64748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2032000" y="41275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深空黑 (背景)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#0A0E1A</a:t>
            </a:r>
            <a:endParaRPr lang="en-US" sz="1100" b="0" i="0" u="none" strike="noStrike">
              <a:solidFill>
                <a:srgbClr val="A0AEC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页面基调 / 深邃沉稳</a:t>
            </a:r>
            <a:endParaRPr lang="en-US" sz="1000" b="0" i="0" u="none" strike="noStrike">
              <a:solidFill>
                <a:srgbClr val="71809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492500" y="3937000"/>
            <a:ext cx="23495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619500" y="4127500"/>
            <a:ext cx="762000" cy="762000"/>
          </a:xfrm>
          <a:prstGeom prst="ellipse">
            <a:avLst/>
          </a:prstGeom>
          <a:solidFill>
            <a:srgbClr val="A0AEC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508500" y="41275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多阶灰 (文本)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#FFF / #A0AEC0</a:t>
            </a:r>
            <a:endParaRPr lang="en-US" sz="1100" b="0" i="0" u="none" strike="noStrike">
              <a:solidFill>
                <a:srgbClr val="A0AEC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rPr>
              <a:t>主内容 / 注释说明</a:t>
            </a:r>
            <a:endParaRPr lang="en-US" sz="1000" b="0" i="0" u="none" strike="noStrike">
              <a:solidFill>
                <a:srgbClr val="71809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016000" y="5461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高对比度配色体系，确保在深色模式下的可读性与视觉层次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4324"/>
            </a:avLst>
          </a:prstGeom>
          <a:solidFill>
            <a:srgbClr val="141928">
              <a:alpha val="92000"/>
            </a:srgbClr>
          </a:solidFill>
          <a:ln w="12700" cap="flat" cmpd="sng">
            <a:solidFill>
              <a:srgbClr val="8B5CF6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1778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字体系统 Typography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2413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04000" y="2603500"/>
            <a:ext cx="711200" cy="762000"/>
          </a:xfrm>
          <a:prstGeom prst="roundRect">
            <a:avLst>
              <a:gd name="adj" fmla="val 21428"/>
            </a:avLst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1000" y="27813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493000" y="2603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标准字体：Inter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现代无衬线字体，字形结构清晰，在数字屏幕上具有极佳的可读性，完美契合科技产品的现代感。</a:t>
            </a:r>
            <a:endParaRPr lang="en-US" sz="1200" b="0" i="0" u="none" strike="noStrike">
              <a:solidFill>
                <a:srgbClr val="A0AE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477000" y="3810000"/>
            <a:ext cx="4699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604000" y="4000500"/>
            <a:ext cx="711200" cy="762000"/>
          </a:xfrm>
          <a:prstGeom prst="roundRect">
            <a:avLst>
              <a:gd name="adj" fmla="val 21428"/>
            </a:avLst>
          </a:prstGeom>
          <a:solidFill>
            <a:srgbClr val="8B5C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4178300"/>
            <a:ext cx="457200" cy="4572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493000" y="4000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层级化字号体系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严格定义字号层级：页面标题 32px / 模块标题 24px / 正文内容 16px，建立清晰的视觉引导路径。</a:t>
            </a:r>
            <a:endParaRPr lang="en-US" sz="1200" b="0" i="0" u="none" strike="noStrike">
              <a:solidFill>
                <a:srgbClr val="A0AE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477000" y="5207000"/>
            <a:ext cx="4699000" cy="889000"/>
          </a:xfrm>
          <a:prstGeom prst="roundRect">
            <a:avLst>
              <a:gd name="adj" fmla="val 17142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604000" y="5334000"/>
            <a:ext cx="711200" cy="635000"/>
          </a:xfrm>
          <a:prstGeom prst="roundRect">
            <a:avLst>
              <a:gd name="adj" fmla="val 2400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5461000"/>
            <a:ext cx="457200" cy="381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493000" y="5334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字重区分信息层级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利用 Regular / Medium / Bold 三级字重，强化信息主次关系。</a:t>
            </a:r>
            <a:endParaRPr lang="en-US" sz="1100" b="0" i="0" u="none" strike="noStrike">
              <a:solidFill>
                <a:srgbClr val="A0AEC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 UX核心流程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FF"/>
                </a:solidFill>
                <a:latin typeface="Inter"/>
                <a:ea typeface="Inter"/>
                <a:cs typeface="Inter"/>
                <a:sym typeface="Inter"/>
              </a:rPr>
              <a:t>流程一：注册与合规认证 (Onboarding &amp; KYC)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5588000" cy="825500"/>
          </a:xfrm>
          <a:prstGeom prst="roundRect">
            <a:avLst>
              <a:gd name="adj" fmla="val 12307"/>
            </a:avLst>
          </a:prstGeom>
          <a:solidFill>
            <a:srgbClr val="141E32">
              <a:alpha val="90000"/>
            </a:srgbClr>
          </a:solidFill>
          <a:ln w="12700" cap="flat" cmpd="sng">
            <a:solidFill>
              <a:srgbClr val="0052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E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核心目标：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引导用户快速完成注册流程，并通过多重验证建立安全合规的数字身份体系。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266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048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2984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欢迎引导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3429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展示APP核心价值与愿景，建立用户信任。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254500"/>
            <a:ext cx="266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445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38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账号注册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4826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支持手机号/邮箱一键注册，验证信息有效性。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651500"/>
            <a:ext cx="2667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842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715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钱包创建/导入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生成密钥或导入资产。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683000" y="2857500"/>
            <a:ext cx="266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73500" y="3048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445000" y="2984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身份认证(KYC)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445000" y="3429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身份证OCR识别 + 活体人脸识别，确保真人实名。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83000" y="4254500"/>
            <a:ext cx="266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73500" y="44450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4445000" y="4381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风险承受测评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445000" y="4826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完成标准化问卷，精准评估用户风险等级。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683000" y="5651500"/>
            <a:ext cx="2667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73500" y="5842000"/>
            <a:ext cx="457200" cy="4572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4445000" y="5715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流程完成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解锁APP全部核心功能。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1841500"/>
            <a:ext cx="4826000" cy="4826000"/>
          </a:xfrm>
          <a:prstGeom prst="roundRect">
            <a:avLst>
              <a:gd name="adj" fmla="val 3157"/>
            </a:avLst>
          </a:prstGeom>
          <a:solidFill>
            <a:srgbClr val="0F172A">
              <a:alpha val="85000"/>
            </a:srgbClr>
          </a:solidFill>
          <a:ln w="25400" cap="flat" cmpd="sng">
            <a:solidFill>
              <a:srgbClr val="0052FF">
                <a:alpha val="8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52FF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4"/>
          <a:srcRect l="4403" r="4403"/>
          <a:stretch>
            <a:fillRect/>
          </a:stretch>
        </p:blipFill>
        <p:spPr>
          <a:xfrm>
            <a:off x="6858000" y="2159000"/>
            <a:ext cx="4318000" cy="3556000"/>
          </a:xfrm>
          <a:prstGeom prst="roundRect">
            <a:avLst>
              <a:gd name="adj" fmla="val 357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1" name="AutoShape 31"/>
          <p:cNvSpPr/>
          <p:nvPr/>
        </p:nvSpPr>
        <p:spPr>
          <a:xfrm>
            <a:off x="6858000" y="5842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spc="200">
                <a:solidFill>
                  <a:srgbClr val="00BE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 COMPLIANCE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智能合规 · 守护资产安全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发起一笔安全的交易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目标：确保每一笔交易都在全链路监控下，安全、透明、可追溯。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2667000" cy="1397000"/>
          </a:xfrm>
          <a:prstGeom prst="roundRect">
            <a:avLst>
              <a:gd name="adj" fmla="val 10909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0052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159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20955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选择操作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14500" y="2476500"/>
            <a:ext cx="158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在钱包首页选择“转账”、“兑换”或“质押”等核心功能。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683000" y="1905000"/>
            <a:ext cx="2667000" cy="1397000"/>
          </a:xfrm>
          <a:prstGeom prst="roundRect">
            <a:avLst>
              <a:gd name="adj" fmla="val 10909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0052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3500" y="2159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35500" y="20955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信息填写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2476500"/>
            <a:ext cx="158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准确输入接收地址、交易金额，并确认转账备注信息。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556000"/>
            <a:ext cx="2667000" cy="1397000"/>
          </a:xfrm>
          <a:prstGeom prst="roundRect">
            <a:avLst>
              <a:gd name="adj" fmla="val 10909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0052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810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14500" y="37465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AI安全扫描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714500" y="4127500"/>
            <a:ext cx="158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Oracle 自动扫描地址风险库，实时给出钓鱼或诈骗预警。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83000" y="3556000"/>
            <a:ext cx="2667000" cy="1397000"/>
          </a:xfrm>
          <a:prstGeom prst="roundRect">
            <a:avLst>
              <a:gd name="adj" fmla="val 10909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0052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73500" y="3810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635500" y="37465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交易确认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35500" y="4127500"/>
            <a:ext cx="158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系统汇总Gas费、到账地址等详细信息，二次确认无误后提交。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207000"/>
            <a:ext cx="2667000" cy="1143000"/>
          </a:xfrm>
          <a:prstGeom prst="roundRect">
            <a:avLst>
              <a:gd name="adj" fmla="val 13333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0052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4102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651000" y="53340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授权签名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651000" y="5715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指纹或钱包密码完成生物识别授权。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683000" y="5207000"/>
            <a:ext cx="2667000" cy="1143000"/>
          </a:xfrm>
          <a:prstGeom prst="roundRect">
            <a:avLst>
              <a:gd name="adj" fmla="val 13333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0052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73500" y="5410200"/>
            <a:ext cx="508000" cy="508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4572000" y="53340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交易追踪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572000" y="5715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实时查看区块确认状态与进度。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731000" y="1905000"/>
            <a:ext cx="4445000" cy="4445000"/>
          </a:xfrm>
          <a:prstGeom prst="roundRect">
            <a:avLst>
              <a:gd name="adj" fmla="val 5714"/>
            </a:avLst>
          </a:prstGeom>
          <a:solidFill>
            <a:srgbClr val="0F172A">
              <a:alpha val="90000"/>
            </a:srgbClr>
          </a:solidFill>
          <a:ln w="25400" cap="flat" cmpd="sng">
            <a:solidFill>
              <a:srgbClr val="0052FF">
                <a:alpha val="70000"/>
              </a:srgbClr>
            </a:solidFill>
            <a:prstDash val="solid"/>
            <a:round/>
          </a:ln>
          <a:effectLst>
            <a:outerShdw blurRad="317500" dir="2700000" algn="tl" rotWithShape="0">
              <a:srgbClr val="0052F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4"/>
          <a:srcRect l="759" r="759"/>
          <a:stretch>
            <a:fillRect/>
          </a:stretch>
        </p:blipFill>
        <p:spPr>
          <a:xfrm>
            <a:off x="7175500" y="2159000"/>
            <a:ext cx="2159000" cy="3937000"/>
          </a:xfrm>
          <a:prstGeom prst="roundRect">
            <a:avLst>
              <a:gd name="adj" fmla="val 882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1" name="AutoShape 31"/>
          <p:cNvSpPr/>
          <p:nvPr/>
        </p:nvSpPr>
        <p:spPr>
          <a:xfrm>
            <a:off x="9525000" y="29210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</a:t>
            </a:r>
            <a:br>
              <a:rPr lang="en-US" sz="18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风控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525000" y="3810000"/>
            <a:ext cx="139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1D5D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每一笔交易</a:t>
            </a:r>
            <a:br>
              <a:rPr lang="en-US" sz="1200" b="0" i="0" u="none" strike="noStrike">
                <a:solidFill>
                  <a:srgbClr val="D1D5D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都经过多重</a:t>
            </a:r>
            <a:br>
              <a:rPr lang="en-US" sz="1200" b="0" i="0" u="none" strike="noStrike">
                <a:solidFill>
                  <a:srgbClr val="D1D5D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安全验证机制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05 核心价值与竞争优势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52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1016000" cy="1016000"/>
          </a:xfrm>
          <a:prstGeom prst="ellipse">
            <a:avLst/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2286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286000" y="1968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FF"/>
                </a:solidFill>
                <a:latin typeface="Inter"/>
                <a:ea typeface="Inter"/>
                <a:cs typeface="Inter"/>
                <a:sym typeface="Inter"/>
              </a:rPr>
              <a:t>合规 Compliance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2540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我们不是在灰色地带游走，而是主动拥抱监管，为用户提供一个受法律保护的安全港。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52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2032000"/>
            <a:ext cx="1016000" cy="1016000"/>
          </a:xfrm>
          <a:prstGeom prst="ellipse">
            <a:avLst/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2286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747000" y="1968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FF"/>
                </a:solidFill>
                <a:latin typeface="Inter"/>
                <a:ea typeface="Inter"/>
                <a:cs typeface="Inter"/>
                <a:sym typeface="Inter"/>
              </a:rPr>
              <a:t>透明 Transparency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747000" y="2540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利用区块链技术的核心优势，将一切置于阳光下，让欺诈无所遁形，建立绝对的信任机制。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52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4445000"/>
            <a:ext cx="1016000" cy="1016000"/>
          </a:xfrm>
          <a:prstGeom prst="ellipse">
            <a:avLst/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4699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286000" y="4381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FF"/>
                </a:solidFill>
                <a:latin typeface="Inter"/>
                <a:ea typeface="Inter"/>
                <a:cs typeface="Inter"/>
                <a:sym typeface="Inter"/>
              </a:rPr>
              <a:t>智能 Intelligence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286000" y="4953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通过AI技术深度赋能，将复杂的Web3交互逻辑抽象化，让用户体验变得简单、高效且个性化。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4064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0052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4445000"/>
            <a:ext cx="1016000" cy="1016000"/>
          </a:xfrm>
          <a:prstGeom prst="ellipse">
            <a:avLst/>
          </a:prstGeom>
          <a:solidFill>
            <a:srgbClr val="0052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1000" y="4699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747000" y="4381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FF"/>
                </a:solidFill>
                <a:latin typeface="Inter"/>
                <a:ea typeface="Inter"/>
                <a:cs typeface="Inter"/>
                <a:sym typeface="Inter"/>
              </a:rPr>
              <a:t>共治 Governance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747000" y="4953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平台真正属于每一位用户，社区的发展方向与未来规则，完全由社区成员共同参与、共同书写。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竞争优势分析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03500" cy="3810000"/>
          </a:xfrm>
          <a:prstGeom prst="roundRect">
            <a:avLst>
              <a:gd name="adj" fmla="val 5853"/>
            </a:avLst>
          </a:prstGeom>
          <a:gradFill rotWithShape="1">
            <a:gsLst>
              <a:gs pos="0">
                <a:srgbClr val="0052FF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254000" dir="2700000" algn="tl" rotWithShape="0">
              <a:srgbClr val="0052FF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TWD APP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159000"/>
            <a:ext cx="2349500" cy="571500"/>
          </a:xfrm>
          <a:prstGeom prst="roundRect">
            <a:avLst>
              <a:gd name="adj" fmla="val 13333"/>
            </a:avLst>
          </a:prstGeom>
          <a:solidFill>
            <a:srgbClr val="FFFFFF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合规透明的生态价值平台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8575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8575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28575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 (KYC/AML)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33909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33909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透明度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33909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极高 (全链路溯源)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39243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39243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AI赋能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39243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深度集成 (智能投研)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9000" y="44577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44577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社区治理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78000" y="44577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原生支持 (DAO Hub)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" y="49911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49911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生态整合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778000" y="49911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 (一站式应用市场)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556000" y="1524000"/>
            <a:ext cx="2603500" cy="3810000"/>
          </a:xfrm>
          <a:prstGeom prst="roundRect">
            <a:avLst>
              <a:gd name="adj" fmla="val 5853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3556000" y="16510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传统Web3钱包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683000" y="2159000"/>
            <a:ext cx="2349500" cy="5715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基础的资产交互工具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683000" y="28575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3746500" y="28575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合规性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572000" y="28575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弱 (完全匿名)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683000" y="33909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3746500" y="33909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透明度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572000" y="33909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 (仅显示地址)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683000" y="39243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3746500" y="39243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AI赋能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572000" y="39243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3683000" y="44577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3746500" y="44577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社区治理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572000" y="44577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3683000" y="49911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3746500" y="49911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生态整合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4572000" y="49911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 (DApp浏览器)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350000" y="1524000"/>
            <a:ext cx="2603500" cy="3810000"/>
          </a:xfrm>
          <a:prstGeom prst="roundRect">
            <a:avLst>
              <a:gd name="adj" fmla="val 5853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6350000" y="16510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中心化交易所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477000" y="2159000"/>
            <a:ext cx="2349500" cy="5715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中心化的资产交易平台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6477000" y="28575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6540500" y="28575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合规性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7366000" y="28575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 (受监管约束)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6477000" y="33909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6540500" y="33909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透明度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7366000" y="33909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 (平台数据黑盒)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477000" y="39243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AutoShape 50"/>
          <p:cNvSpPr/>
          <p:nvPr/>
        </p:nvSpPr>
        <p:spPr>
          <a:xfrm>
            <a:off x="6540500" y="39243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AI赋能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7366000" y="39243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有限 (量化机器人)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6477000" y="44577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53"/>
          <p:cNvSpPr/>
          <p:nvPr/>
        </p:nvSpPr>
        <p:spPr>
          <a:xfrm>
            <a:off x="6540500" y="44577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社区治理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7366000" y="44577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中心化决策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6477000" y="49911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6" name="AutoShape 56"/>
          <p:cNvSpPr/>
          <p:nvPr/>
        </p:nvSpPr>
        <p:spPr>
          <a:xfrm>
            <a:off x="6540500" y="49911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生态整合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7366000" y="49911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 (平台内闭环)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9144000" y="1524000"/>
            <a:ext cx="2603500" cy="3810000"/>
          </a:xfrm>
          <a:prstGeom prst="roundRect">
            <a:avLst>
              <a:gd name="adj" fmla="val 5853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9" name="AutoShape 59"/>
          <p:cNvSpPr/>
          <p:nvPr/>
        </p:nvSpPr>
        <p:spPr>
          <a:xfrm>
            <a:off x="9144000" y="16510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数据分析平台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9271000" y="2159000"/>
            <a:ext cx="2349500" cy="5715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专业的链上数据监控</a:t>
            </a:r>
            <a:endParaRPr lang="en-US" sz="1100"/>
          </a:p>
        </p:txBody>
      </p:sp>
      <p:sp>
        <p:nvSpPr>
          <p:cNvPr id="61" name="AutoShape 61"/>
          <p:cNvSpPr/>
          <p:nvPr/>
        </p:nvSpPr>
        <p:spPr>
          <a:xfrm>
            <a:off x="9271000" y="28575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2" name="AutoShape 62"/>
          <p:cNvSpPr/>
          <p:nvPr/>
        </p:nvSpPr>
        <p:spPr>
          <a:xfrm>
            <a:off x="9334500" y="28575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合规性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10160000" y="28575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弱 (侧重数据)</a:t>
            </a:r>
            <a:endParaRPr lang="en-US" sz="1100"/>
          </a:p>
        </p:txBody>
      </p:sp>
      <p:sp>
        <p:nvSpPr>
          <p:cNvPr id="64" name="AutoShape 64"/>
          <p:cNvSpPr/>
          <p:nvPr/>
        </p:nvSpPr>
        <p:spPr>
          <a:xfrm>
            <a:off x="9271000" y="33909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5" name="AutoShape 65"/>
          <p:cNvSpPr/>
          <p:nvPr/>
        </p:nvSpPr>
        <p:spPr>
          <a:xfrm>
            <a:off x="9334500" y="33909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透明度</a:t>
            </a:r>
            <a:endParaRPr lang="en-US" sz="1100"/>
          </a:p>
        </p:txBody>
      </p:sp>
      <p:sp>
        <p:nvSpPr>
          <p:cNvPr id="66" name="AutoShape 66"/>
          <p:cNvSpPr/>
          <p:nvPr/>
        </p:nvSpPr>
        <p:spPr>
          <a:xfrm>
            <a:off x="10160000" y="33909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 (链上数据公开)</a:t>
            </a:r>
            <a:endParaRPr lang="en-US" sz="1100"/>
          </a:p>
        </p:txBody>
      </p:sp>
      <p:sp>
        <p:nvSpPr>
          <p:cNvPr id="67" name="AutoShape 67"/>
          <p:cNvSpPr/>
          <p:nvPr/>
        </p:nvSpPr>
        <p:spPr>
          <a:xfrm>
            <a:off x="9271000" y="39243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8" name="AutoShape 68"/>
          <p:cNvSpPr/>
          <p:nvPr/>
        </p:nvSpPr>
        <p:spPr>
          <a:xfrm>
            <a:off x="9334500" y="39243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AI赋能</a:t>
            </a:r>
            <a:endParaRPr lang="en-US" sz="1100"/>
          </a:p>
        </p:txBody>
      </p:sp>
      <p:sp>
        <p:nvSpPr>
          <p:cNvPr id="69" name="AutoShape 69"/>
          <p:cNvSpPr/>
          <p:nvPr/>
        </p:nvSpPr>
        <p:spPr>
          <a:xfrm>
            <a:off x="10160000" y="39243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有限 (趋势洞察)</a:t>
            </a:r>
            <a:endParaRPr lang="en-US" sz="1100"/>
          </a:p>
        </p:txBody>
      </p:sp>
      <p:sp>
        <p:nvSpPr>
          <p:cNvPr id="70" name="AutoShape 70"/>
          <p:cNvSpPr/>
          <p:nvPr/>
        </p:nvSpPr>
        <p:spPr>
          <a:xfrm>
            <a:off x="9271000" y="44577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1" name="AutoShape 71"/>
          <p:cNvSpPr/>
          <p:nvPr/>
        </p:nvSpPr>
        <p:spPr>
          <a:xfrm>
            <a:off x="9334500" y="44577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社区治理</a:t>
            </a:r>
            <a:endParaRPr lang="en-US" sz="1100"/>
          </a:p>
        </p:txBody>
      </p:sp>
      <p:sp>
        <p:nvSpPr>
          <p:cNvPr id="72" name="AutoShape 72"/>
          <p:cNvSpPr/>
          <p:nvPr/>
        </p:nvSpPr>
        <p:spPr>
          <a:xfrm>
            <a:off x="10160000" y="44577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</a:t>
            </a:r>
            <a:endParaRPr lang="en-US" sz="1100"/>
          </a:p>
        </p:txBody>
      </p:sp>
      <p:sp>
        <p:nvSpPr>
          <p:cNvPr id="73" name="AutoShape 73"/>
          <p:cNvSpPr/>
          <p:nvPr/>
        </p:nvSpPr>
        <p:spPr>
          <a:xfrm>
            <a:off x="9271000" y="4991100"/>
            <a:ext cx="2349500" cy="4318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4" name="AutoShape 74"/>
          <p:cNvSpPr/>
          <p:nvPr/>
        </p:nvSpPr>
        <p:spPr>
          <a:xfrm>
            <a:off x="9334500" y="4991100"/>
            <a:ext cx="76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生态整合</a:t>
            </a:r>
            <a:endParaRPr lang="en-US" sz="1100"/>
          </a:p>
        </p:txBody>
      </p:sp>
      <p:sp>
        <p:nvSpPr>
          <p:cNvPr id="75" name="AutoShape 75"/>
          <p:cNvSpPr/>
          <p:nvPr/>
        </p:nvSpPr>
        <p:spPr>
          <a:xfrm>
            <a:off x="10160000" y="4991100"/>
            <a:ext cx="139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弱 (仅数据服务)</a:t>
            </a:r>
            <a:endParaRPr lang="en-US" sz="1100"/>
          </a:p>
        </p:txBody>
      </p:sp>
      <p:sp>
        <p:nvSpPr>
          <p:cNvPr id="76" name="AutoShape 76"/>
          <p:cNvSpPr/>
          <p:nvPr/>
        </p:nvSpPr>
        <p:spPr>
          <a:xfrm>
            <a:off x="762000" y="5588000"/>
            <a:ext cx="10985500" cy="889000"/>
          </a:xfrm>
          <a:prstGeom prst="roundRect">
            <a:avLst>
              <a:gd name="adj" fmla="val 17142"/>
            </a:avLst>
          </a:prstGeom>
          <a:solidFill>
            <a:srgbClr val="0F172A">
              <a:alpha val="90000"/>
            </a:srgbClr>
          </a:solidFill>
          <a:ln w="12700" cap="flat" cmpd="sng">
            <a:solidFill>
              <a:srgbClr val="0052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7" name="Picture 7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727700"/>
            <a:ext cx="609600" cy="609600"/>
          </a:xfrm>
          <a:prstGeom prst="rect">
            <a:avLst/>
          </a:prstGeom>
        </p:spPr>
      </p:pic>
      <p:sp>
        <p:nvSpPr>
          <p:cNvPr id="78" name="AutoShape 78"/>
          <p:cNvSpPr/>
          <p:nvPr/>
        </p:nvSpPr>
        <p:spPr>
          <a:xfrm>
            <a:off x="1905000" y="57150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</a:t>
            </a: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TWD APP 凭借其</a:t>
            </a:r>
            <a:r>
              <a:rPr lang="en-US" sz="13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综合性</a:t>
            </a: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300" b="1" i="0" u="none" strike="noStrike">
                <a:solidFill>
                  <a:srgbClr val="FCD3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独特性</a:t>
            </a:r>
            <a:r>
              <a:rPr lang="en-US" sz="12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，在合规、透明、AI与治理等维度建立了全方位护城河，致力于成为Web3时代的“超级应用”。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42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 spc="400">
                <a:solidFill>
                  <a:srgbClr val="0052FF"/>
                </a:solidFill>
                <a:latin typeface="Inter"/>
                <a:ea typeface="Inter"/>
                <a:cs typeface="Inter"/>
                <a:sym typeface="Inter"/>
              </a:rPr>
              <a:t>翼展苍穹 · 价值无界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4445000"/>
            <a:ext cx="1524000" cy="50800"/>
          </a:xfrm>
          <a:prstGeom prst="roundRect">
            <a:avLst>
              <a:gd name="adj" fmla="val 5000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080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spc="200">
                <a:solidFill>
                  <a:srgbClr val="D1D5DB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TWD APP - CREATING THE WEB3 FUTURE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3731</Words>
  <Application>WPS 演示</Application>
  <PresentationFormat/>
  <Paragraphs>422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Arial</vt:lpstr>
      <vt:lpstr>Inter</vt:lpstr>
      <vt:lpstr>Segoe Print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路遥知马力，</cp:lastModifiedBy>
  <cp:revision>2</cp:revision>
  <dcterms:created xsi:type="dcterms:W3CDTF">2026-04-21T12:32:00Z</dcterms:created>
  <dcterms:modified xsi:type="dcterms:W3CDTF">2026-05-25T02:56:26Z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4364EDFF38BF42B897EDF61FC9DF4868_12</vt:lpwstr>
  </property>
</Properties>
</file>